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 panose="020B0604020202020204"/>
              </a:rPr>
              <a:t>CVD Rate (%) by Age Group</a:t>
            </a:r>
            <a:endParaRPr sz="1100" b="0" i="0" u="none" strike="noStrike">
              <a:solidFill>
                <a:srgbClr val="FFFFFF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CVD Rate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Sheet1!$A$2:$A$14</c:f>
              <c:strCache>
                <c:ptCount val="13"/>
                <c:pt idx="0">
                  <c:v>18-24</c:v>
                </c:pt>
                <c:pt idx="1">
                  <c:v>25-29</c:v>
                </c:pt>
                <c:pt idx="2">
                  <c:v>30-34</c:v>
                </c:pt>
                <c:pt idx="3">
                  <c:v>35-39</c:v>
                </c:pt>
                <c:pt idx="4">
                  <c:v>40-44</c:v>
                </c:pt>
                <c:pt idx="5">
                  <c:v>45-49</c:v>
                </c:pt>
                <c:pt idx="6">
                  <c:v>50-54</c:v>
                </c:pt>
                <c:pt idx="7">
                  <c:v>55-59</c:v>
                </c:pt>
                <c:pt idx="8">
                  <c:v>60-64</c:v>
                </c:pt>
                <c:pt idx="9">
                  <c:v>65-69</c:v>
                </c:pt>
                <c:pt idx="10">
                  <c:v>70-74</c:v>
                </c:pt>
                <c:pt idx="11">
                  <c:v>75-79</c:v>
                </c:pt>
                <c:pt idx="12">
                  <c:v>80+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0.6</c:v>
                </c:pt>
                <c:pt idx="1">
                  <c:v>0.8</c:v>
                </c:pt>
                <c:pt idx="2">
                  <c:v>1.1</c:v>
                </c:pt>
                <c:pt idx="3">
                  <c:v>1.5</c:v>
                </c:pt>
                <c:pt idx="4">
                  <c:v>2.3</c:v>
                </c:pt>
                <c:pt idx="5">
                  <c:v>3.5</c:v>
                </c:pt>
                <c:pt idx="6">
                  <c:v>5.2</c:v>
                </c:pt>
                <c:pt idx="7">
                  <c:v>7.8</c:v>
                </c:pt>
                <c:pt idx="8">
                  <c:v>10.4</c:v>
                </c:pt>
                <c:pt idx="9">
                  <c:v>13.2</c:v>
                </c:pt>
                <c:pt idx="10">
                  <c:v>16.8</c:v>
                </c:pt>
                <c:pt idx="11">
                  <c:v>20.1</c:v>
                </c:pt>
                <c:pt idx="12">
                  <c:v>24.5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rgbClr val="8BA5B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1A3A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8BA5B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02607d6c-0ef2-43e9-ad01-8efb8e8d8b9d}"/>
      </c:ext>
    </c:extLst>
  </c:chart>
  <c:spPr>
    <a:solidFill>
      <a:srgbClr val="132D44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CVD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22B47"/>
              </a:solidFill>
              <a:effectLst/>
            </c:spPr>
          </c:dPt>
          <c:dPt>
            <c:idx val="1"/>
            <c:bubble3D val="0"/>
            <c:spPr>
              <a:solidFill>
                <a:srgbClr val="E74C3C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No CVD (94.2%)</c:v>
                </c:pt>
                <c:pt idx="1">
                  <c:v>Has CVD (5.8%)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94.2</c:v>
                </c:pt>
                <c:pt idx="1">
                  <c:v>5.8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6ab9d924-6914-4bb6-9064-6317b01537e4}"/>
      </c:ext>
    </c:extLst>
  </c:chart>
  <c:spPr>
    <a:solidFill>
      <a:srgbClr val="0D2137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 panose="020B0604020202020204"/>
              </a:rPr>
              <a:t>ROC Curve Comparison — All Models</a:t>
            </a:r>
            <a:endParaRPr sz="1100" b="0" i="0" u="none" strike="noStrike">
              <a:solidFill>
                <a:srgbClr val="FFFFFF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 (0.8066)</c:v>
                </c:pt>
              </c:strCache>
            </c:strRef>
          </c:tx>
          <c:spPr>
            <a:ln w="31750" cap="flat" cmpd="sng" algn="ctr">
              <a:solidFill>
                <a:srgbClr val="3498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498DB"/>
              </a:solidFill>
              <a:ln w="9525" cap="flat" cmpd="sng" algn="ctr">
                <a:solidFill>
                  <a:srgbClr val="3498D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0.3</c:v>
                </c:pt>
                <c:pt idx="2">
                  <c:v>0.52</c:v>
                </c:pt>
                <c:pt idx="3">
                  <c:v>0.65</c:v>
                </c:pt>
                <c:pt idx="4">
                  <c:v>0.73</c:v>
                </c:pt>
                <c:pt idx="5">
                  <c:v>0.79</c:v>
                </c:pt>
                <c:pt idx="6">
                  <c:v>0.84</c:v>
                </c:pt>
                <c:pt idx="7">
                  <c:v>0.88</c:v>
                </c:pt>
                <c:pt idx="8">
                  <c:v>0.92</c:v>
                </c:pt>
                <c:pt idx="9">
                  <c:v>0.96</c:v>
                </c:pt>
                <c:pt idx="10">
                  <c:v>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 (0.8478)</c:v>
                </c:pt>
              </c:strCache>
            </c:strRef>
          </c:tx>
          <c:spPr>
            <a:ln w="31750" cap="flat" cmpd="sng" algn="ctr">
              <a:solidFill>
                <a:srgbClr val="02C3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C39A"/>
              </a:solidFill>
              <a:ln w="9525" cap="flat" cmpd="sng" algn="ctr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0.35</c:v>
                </c:pt>
                <c:pt idx="2">
                  <c:v>0.57</c:v>
                </c:pt>
                <c:pt idx="3">
                  <c:v>0.7</c:v>
                </c:pt>
                <c:pt idx="4">
                  <c:v>0.78</c:v>
                </c:pt>
                <c:pt idx="5">
                  <c:v>0.84</c:v>
                </c:pt>
                <c:pt idx="6">
                  <c:v>0.88</c:v>
                </c:pt>
                <c:pt idx="7">
                  <c:v>0.92</c:v>
                </c:pt>
                <c:pt idx="8">
                  <c:v>0.95</c:v>
                </c:pt>
                <c:pt idx="9">
                  <c:v>0.97</c:v>
                </c:pt>
                <c:pt idx="10">
                  <c:v>1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Gradient Boost (0.8061)</c:v>
                </c:pt>
              </c:strCache>
            </c:strRef>
          </c:tx>
          <c:spPr>
            <a:ln w="31750" cap="flat" cmpd="sng" algn="ctr">
              <a:solidFill>
                <a:srgbClr val="F39C1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39C12"/>
              </a:solidFill>
              <a:ln w="9525" cap="flat" cmpd="sng" algn="ctr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0.3</c:v>
                </c:pt>
                <c:pt idx="2">
                  <c:v>0.51</c:v>
                </c:pt>
                <c:pt idx="3">
                  <c:v>0.63</c:v>
                </c:pt>
                <c:pt idx="4">
                  <c:v>0.72</c:v>
                </c:pt>
                <c:pt idx="5">
                  <c:v>0.78</c:v>
                </c:pt>
                <c:pt idx="6">
                  <c:v>0.83</c:v>
                </c:pt>
                <c:pt idx="7">
                  <c:v>0.87</c:v>
                </c:pt>
                <c:pt idx="8">
                  <c:v>0.91</c:v>
                </c:pt>
                <c:pt idx="9">
                  <c:v>0.95</c:v>
                </c:pt>
                <c:pt idx="10">
                  <c:v>1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Random (0.500)</c:v>
                </c:pt>
              </c:strCache>
            </c:strRef>
          </c:tx>
          <c:spPr>
            <a:ln w="31750" cap="flat" cmpd="sng" algn="ctr">
              <a:solidFill>
                <a:srgbClr val="66666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66666"/>
              </a:solidFill>
              <a:ln w="9525" cap="flat" cmpd="sng" algn="ctr">
                <a:solidFill>
                  <a:srgbClr val="666666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0.5</c:v>
                </c:pt>
                <c:pt idx="2">
                  <c:v>1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  <c:max val="11.5"/>
          <c:min val="0.5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8BA5B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 cmpd="sng" algn="ctr">
              <a:solidFill>
                <a:srgbClr val="1A3A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8BA5B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800" b="0" i="0" u="none" strike="noStrike" kern="1200" baseline="0">
              <a:solidFill>
                <a:srgbClr val="8BA5BC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da07f390-f428-49f8-b66c-ae5443f3eef3}"/>
      </c:ext>
    </c:extLst>
  </c:chart>
  <c:spPr>
    <a:solidFill>
      <a:srgbClr val="132D44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FFFFFF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 panose="020B0604020202020204"/>
              </a:rPr>
              <a:t>Feature Importance (Random Forest)</a:t>
            </a:r>
            <a:endParaRPr sz="1100" b="0" i="0" u="none" strike="noStrike">
              <a:solidFill>
                <a:srgbClr val="FFFFFF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A5B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A5B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BA5B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BA5B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BA5B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8BA5BC"/>
              </a:solidFill>
              <a:effectLst/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_AGEG5YR</c:v>
                </c:pt>
                <c:pt idx="1">
                  <c:v>GENHLTH</c:v>
                </c:pt>
                <c:pt idx="2">
                  <c:v>_BMI5</c:v>
                </c:pt>
                <c:pt idx="3">
                  <c:v>PHYSHLTH</c:v>
                </c:pt>
                <c:pt idx="4">
                  <c:v>MENTHLTH</c:v>
                </c:pt>
                <c:pt idx="5">
                  <c:v>DIABETE4</c:v>
                </c:pt>
                <c:pt idx="6">
                  <c:v>SMOKE100</c:v>
                </c:pt>
                <c:pt idx="7">
                  <c:v>WEIGHT2</c:v>
                </c:pt>
                <c:pt idx="8">
                  <c:v>HEIGHT3</c:v>
                </c:pt>
                <c:pt idx="9">
                  <c:v>_TOTINDA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0.278</c:v>
                </c:pt>
                <c:pt idx="1">
                  <c:v>0.162</c:v>
                </c:pt>
                <c:pt idx="2">
                  <c:v>0.118</c:v>
                </c:pt>
                <c:pt idx="3">
                  <c:v>0.097</c:v>
                </c:pt>
                <c:pt idx="4">
                  <c:v>0.074</c:v>
                </c:pt>
                <c:pt idx="5">
                  <c:v>0.058</c:v>
                </c:pt>
                <c:pt idx="6">
                  <c:v>0.052</c:v>
                </c:pt>
                <c:pt idx="7">
                  <c:v>0.048</c:v>
                </c:pt>
                <c:pt idx="8">
                  <c:v>0.045</c:v>
                </c:pt>
                <c:pt idx="9">
                  <c:v>0.038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50" b="0" i="0" u="none" strike="noStrike" kern="1200" baseline="0">
                <a:solidFill>
                  <a:srgbClr val="8BA5B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1A3A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8BA5BC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0c161b77-1202-4873-8553-689dcc22ed38}"/>
      </c:ext>
    </c:extLst>
  </c:chart>
  <c:spPr>
    <a:solidFill>
      <a:srgbClr val="132D44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0A896">
              <a:alpha val="70000"/>
            </a:srgbClr>
          </a:solidFill>
          <a:ln w="12700">
            <a:solidFill>
              <a:srgbClr val="00A896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114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</a:rPr>
              <a:t>CDC BRFSS 2024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" y="777240"/>
            <a:ext cx="310896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2137"/>
                </a:solidFill>
              </a:rPr>
              <a:t>457,670 Respondents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2137"/>
                </a:solidFill>
              </a:rPr>
              <a:t>301 Variables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2137"/>
                </a:solidFill>
              </a:rPr>
              <a:t>Public Health Survey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2834640" cy="1005840"/>
          </a:xfrm>
          <a:prstGeom prst="rect">
            <a:avLst/>
          </a:prstGeom>
          <a:solidFill>
            <a:srgbClr val="0D2137">
              <a:alpha val="80000"/>
            </a:srgbClr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28800"/>
            <a:ext cx="2834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~30%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20040" y="2359152"/>
            <a:ext cx="2834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4EAE7"/>
                </a:solidFill>
              </a:rPr>
              <a:t>of deaths in Kenya are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4EAE7"/>
                </a:solidFill>
              </a:rPr>
              <a:t>due to CVD (WHO)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2880" y="3017520"/>
            <a:ext cx="3108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ROC-AUC: 0.8478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" y="3364992"/>
            <a:ext cx="3108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4EAE7"/>
                </a:solidFill>
              </a:rPr>
              <a:t>Best Model Performance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2880" y="3794760"/>
            <a:ext cx="3108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3 ML Models Compared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D2137"/>
                </a:solidFill>
              </a:rPr>
              <a:t>Logistic Regression · Random Forest · Gradient Boosting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49040" y="502920"/>
            <a:ext cx="52120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CARDIOVASCULAR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749040" y="987552"/>
            <a:ext cx="52120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DISEASE RISK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749040" y="1472184"/>
            <a:ext cx="52120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PREDICTION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3749040" y="2103120"/>
            <a:ext cx="512064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240280"/>
            <a:ext cx="5120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8BA5B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Machine Learning Approach to</a:t>
            </a:r>
            <a:endParaRPr lang="en-US" sz="1450" dirty="0"/>
          </a:p>
          <a:p>
            <a:pPr marL="0" indent="0">
              <a:buNone/>
            </a:pPr>
            <a:r>
              <a:rPr lang="en-US" sz="1450" i="1" dirty="0">
                <a:solidFill>
                  <a:srgbClr val="8BA5B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Cardiovascular Prevention for Kenya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749040" y="2788920"/>
            <a:ext cx="5120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5BC"/>
                </a:solidFill>
              </a:rPr>
              <a:t>Proof-of-Concept Using CDC BRFSS 2024 Data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49040" y="3200400"/>
            <a:ext cx="5120640" cy="36576"/>
          </a:xfrm>
          <a:prstGeom prst="rect">
            <a:avLst/>
          </a:prstGeom>
          <a:solidFill>
            <a:srgbClr val="122B47"/>
          </a:solidFill>
          <a:ln w="12700">
            <a:solidFill>
              <a:srgbClr val="122B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3337560"/>
            <a:ext cx="5120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Capstone Project — Data Science Program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64008" cy="6949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82296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777240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will cover today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846320"/>
            <a:ext cx="685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6B7C"/>
                </a:solidFill>
              </a:rPr>
              <a:t>2 / 16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3931920" cy="82296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051560"/>
            <a:ext cx="502920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51560"/>
            <a:ext cx="502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1115568"/>
            <a:ext cx="3200400" cy="34747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481328"/>
            <a:ext cx="32004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5BC"/>
                </a:solidFill>
              </a:rPr>
              <a:t>CVD burden in Kenya &amp; the screening gap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1993392"/>
            <a:ext cx="3931920" cy="82296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1993392"/>
            <a:ext cx="502920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993392"/>
            <a:ext cx="502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2057400"/>
            <a:ext cx="3200400" cy="34747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Our Dataset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423160"/>
            <a:ext cx="32004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5BC"/>
                </a:solidFill>
              </a:rPr>
              <a:t>CDC BRFSS 2024 — why it works as a proxy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935224"/>
            <a:ext cx="3931920" cy="82296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935224"/>
            <a:ext cx="502920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935224"/>
            <a:ext cx="502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2999232"/>
            <a:ext cx="3200400" cy="34747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Preparation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364992"/>
            <a:ext cx="32004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5BC"/>
                </a:solidFill>
              </a:rPr>
              <a:t>Feature engineering &amp; BRFSS variable cleaning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877056"/>
            <a:ext cx="3931920" cy="82296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877056"/>
            <a:ext cx="502920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877056"/>
            <a:ext cx="502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840" y="3941064"/>
            <a:ext cx="3200400" cy="34747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Exploratory Analysis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306824"/>
            <a:ext cx="320040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5BC"/>
                </a:solidFill>
              </a:rPr>
              <a:t>Key patterns linking risk factors to CVD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051560"/>
            <a:ext cx="3977640" cy="82296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051560"/>
            <a:ext cx="50292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051560"/>
            <a:ext cx="502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49240" y="1115568"/>
            <a:ext cx="3246120" cy="34747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Machine Learning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1481328"/>
            <a:ext cx="3246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5BC"/>
                </a:solidFill>
              </a:rPr>
              <a:t>3 models, iterative improvement, tuning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1993392"/>
            <a:ext cx="3977640" cy="82296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1993392"/>
            <a:ext cx="50292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993392"/>
            <a:ext cx="502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349240" y="2057400"/>
            <a:ext cx="3246120" cy="34747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Results &amp; Metrics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9240" y="2423160"/>
            <a:ext cx="3246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5BC"/>
                </a:solidFill>
              </a:rPr>
              <a:t>ROC-AUC 0.85, top risk drivers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2935224"/>
            <a:ext cx="3977640" cy="82296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2935224"/>
            <a:ext cx="50292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935224"/>
            <a:ext cx="502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07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349240" y="2999232"/>
            <a:ext cx="3246120" cy="34747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Recommendations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49240" y="3364992"/>
            <a:ext cx="3246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5BC"/>
                </a:solidFill>
              </a:rPr>
              <a:t>What this means for Kenya stakeholders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3877056"/>
            <a:ext cx="3977640" cy="82296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3877056"/>
            <a:ext cx="50292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877056"/>
            <a:ext cx="502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08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349240" y="3941064"/>
            <a:ext cx="3246120" cy="34747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Next Steps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349240" y="4306824"/>
            <a:ext cx="32461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5BC"/>
                </a:solidFill>
              </a:rPr>
              <a:t>Roadmap to Kenyan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20116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</a:rPr>
              <a:t>01  THE PROBLEM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201168"/>
            <a:ext cx="64008" cy="6949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01752"/>
            <a:ext cx="82296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Cardiovascular Disease: Kenya's Growing Crisis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694944"/>
            <a:ext cx="777240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problem matters — and why it's urgent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4846320"/>
            <a:ext cx="685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6B7C"/>
                </a:solidFill>
              </a:rPr>
              <a:t>3 / 16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1005840"/>
            <a:ext cx="2560320" cy="105156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115568"/>
            <a:ext cx="2468880" cy="546811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74C3C"/>
                </a:solidFill>
              </a:rPr>
              <a:t>~30%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4632" y="1584198"/>
            <a:ext cx="2414016" cy="39959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5BC"/>
                </a:solidFill>
              </a:rPr>
              <a:t>of all deaths in Kenya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A5BC"/>
                </a:solidFill>
              </a:rPr>
              <a:t>attributed to CVD (WHO)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148840"/>
            <a:ext cx="2560320" cy="105156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258568"/>
            <a:ext cx="2468880" cy="546811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</a:rPr>
              <a:t>47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84632" y="2727198"/>
            <a:ext cx="2414016" cy="39959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5BC"/>
                </a:solidFill>
              </a:rPr>
              <a:t>county health departments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A5BC"/>
                </a:solidFill>
              </a:rPr>
              <a:t>need data-driven tools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291840"/>
            <a:ext cx="2560320" cy="105156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337560"/>
            <a:ext cx="24688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</a:rPr>
              <a:t>No lab needed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7200" y="3858768"/>
            <a:ext cx="2468880" cy="4389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5BC"/>
                </a:solidFill>
              </a:rPr>
              <a:t>Self-reported tool works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A5BC"/>
                </a:solidFill>
              </a:rPr>
              <a:t>at community level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46120" y="1012825"/>
            <a:ext cx="5486400" cy="1389888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83280" y="1051560"/>
            <a:ext cx="52120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The Screening Gap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383280" y="1371600"/>
            <a:ext cx="52120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Kenyans interact with the health system </a:t>
            </a:r>
            <a:r>
              <a:rPr lang="en-US" sz="105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when acutely ill.</a:t>
            </a:r>
            <a:r>
              <a:rPr lang="en-US" sz="105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Preventive CVD screening is rare at community level.</a:t>
            </a:r>
            <a:endParaRPr lang="en-US" sz="105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83280" y="1783080"/>
            <a:ext cx="521208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</a:rPr>
              <a:t>No simple, deployable screening tool exists that works without lab tests.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46120" y="2487168"/>
            <a:ext cx="5486400" cy="1901952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83280" y="2578608"/>
            <a:ext cx="52120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Key Drivers of Rising CVD in Kenya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383280" y="2926080"/>
            <a:ext cx="5166360" cy="13898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→  Rapid urbanization → processed, high-sodium diets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→  Tobacco use prevalence (~20% of adults smoke)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→  Physical inactivity increasing in urban settings</a:t>
            </a:r>
            <a:endParaRPr lang="en-US" sz="1050" dirty="0">
              <a:solidFill>
                <a:srgbClr val="FFFFFF"/>
              </a:solidFill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→  Rising obesity (30–40% urban overweight/obese)</a:t>
            </a:r>
            <a:endParaRPr lang="en-US" sz="1050" dirty="0">
              <a:solidFill>
                <a:srgbClr val="FFFFFF"/>
              </a:solidFill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→  Under-diagnosed diabetes &amp; hypertension</a:t>
            </a:r>
            <a:endParaRPr lang="en-US" sz="10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20116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</a:rPr>
              <a:t>01  STAKEHOLDERS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201168"/>
            <a:ext cx="64008" cy="6949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65557"/>
            <a:ext cx="82296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Benefits? Stakeholders Across Kenya's Health System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0" y="4846320"/>
            <a:ext cx="685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6B7C"/>
                </a:solidFill>
              </a:rPr>
              <a:t>4 / 16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1480" y="1051560"/>
            <a:ext cx="2743200" cy="173736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1208" y="1161288"/>
            <a:ext cx="566928" cy="566928"/>
          </a:xfrm>
          <a:prstGeom prst="ellipse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161288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MoH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1161288"/>
            <a:ext cx="1874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Ministry of Health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88720" y="1435608"/>
            <a:ext cx="1874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896"/>
                </a:solidFill>
              </a:rPr>
              <a:t>NCD Division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1208" y="1874520"/>
            <a:ext cx="2523744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1965960"/>
            <a:ext cx="2523744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</a:rPr>
              <a:t>Feature importance guides national NCD budget allocation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990088"/>
            <a:ext cx="2743200" cy="173736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1208" y="3099816"/>
            <a:ext cx="566928" cy="566928"/>
          </a:xfrm>
          <a:prstGeom prst="ellipse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099816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CHD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3099816"/>
            <a:ext cx="1874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County Health Depts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88720" y="3374136"/>
            <a:ext cx="1874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896"/>
                </a:solidFill>
              </a:rPr>
              <a:t>All 47 Counties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1208" y="3813048"/>
            <a:ext cx="2523744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3904488"/>
            <a:ext cx="2523744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</a:rPr>
              <a:t>Risk calculator supports county-level screening drives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37560" y="1051560"/>
            <a:ext cx="2743200" cy="173736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47288" y="1161288"/>
            <a:ext cx="566928" cy="566928"/>
          </a:xfrm>
          <a:prstGeom prst="ellipse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47288" y="1161288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HC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114800" y="1161288"/>
            <a:ext cx="1874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Healthcare Providers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114800" y="1435608"/>
            <a:ext cx="1874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896"/>
                </a:solidFill>
              </a:rPr>
              <a:t>Clinics &amp; Hospitals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47288" y="1874520"/>
            <a:ext cx="2523744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1965960"/>
            <a:ext cx="2523744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</a:rPr>
              <a:t>Opportunistic screening during routine visits — no labs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2990088"/>
            <a:ext cx="2743200" cy="173736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47288" y="3099816"/>
            <a:ext cx="566928" cy="566928"/>
          </a:xfrm>
          <a:prstGeom prst="ellipse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47288" y="3099816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CHV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114800" y="3099816"/>
            <a:ext cx="1874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CHVs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114800" y="3374136"/>
            <a:ext cx="1874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896"/>
                </a:solidFill>
              </a:rPr>
              <a:t>Community Health Volunteers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47288" y="3813048"/>
            <a:ext cx="2523744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47288" y="3904488"/>
            <a:ext cx="2523744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</a:rPr>
              <a:t>Household-level triage tool for high-risk referral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63640" y="1051560"/>
            <a:ext cx="2743200" cy="173736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73368" y="1161288"/>
            <a:ext cx="566928" cy="566928"/>
          </a:xfrm>
          <a:prstGeom prst="ellipse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73368" y="1161288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INS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040880" y="1161288"/>
            <a:ext cx="1874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NHIF / SHA / Insurers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040880" y="1435608"/>
            <a:ext cx="1874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896"/>
                </a:solidFill>
              </a:rPr>
              <a:t>Health Financing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73368" y="1874520"/>
            <a:ext cx="2523744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73368" y="1965960"/>
            <a:ext cx="2523744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</a:rPr>
              <a:t>Risk-tier segmentation for preventive wellness benefits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63640" y="2990088"/>
            <a:ext cx="2743200" cy="173736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373368" y="3099816"/>
            <a:ext cx="566928" cy="566928"/>
          </a:xfrm>
          <a:prstGeom prst="ellipse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73368" y="3099816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RES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7040880" y="3099816"/>
            <a:ext cx="1874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NCD Researchers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7040880" y="3374136"/>
            <a:ext cx="1874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896"/>
                </a:solidFill>
              </a:rPr>
              <a:t>Kenyan Universities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373368" y="3813048"/>
            <a:ext cx="2523744" cy="0"/>
          </a:xfrm>
          <a:prstGeom prst="line">
            <a:avLst/>
          </a:prstGeom>
          <a:noFill/>
          <a:ln w="6350">
            <a:solidFill>
              <a:srgbClr val="02809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73368" y="3904488"/>
            <a:ext cx="2523744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</a:rPr>
              <a:t>Replicable pipeline for Kenyan STEPwise &amp; KDHS data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20116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</a:rPr>
              <a:t>02  DATASET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201168"/>
            <a:ext cx="64008" cy="6949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92862"/>
            <a:ext cx="82296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CDC BRFSS 2024 — The World's Largest Health Survey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694944"/>
            <a:ext cx="777240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dataset is the right proxy for Kenya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4846320"/>
            <a:ext cx="685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6B7C"/>
                </a:solidFill>
              </a:rPr>
              <a:t>5 / 16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1005840"/>
            <a:ext cx="1993392" cy="987552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115568"/>
            <a:ext cx="1901952" cy="51352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</a:rPr>
              <a:t>457,670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4632" y="1548994"/>
            <a:ext cx="1847088" cy="37527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5BC"/>
                </a:solidFill>
              </a:rPr>
              <a:t>Survey respondents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A5BC"/>
                </a:solidFill>
              </a:rPr>
              <a:t>(2024 data)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96312" y="1005840"/>
            <a:ext cx="1993392" cy="987552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42032" y="1115568"/>
            <a:ext cx="1901952" cy="51352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A896"/>
                </a:solidFill>
              </a:rPr>
              <a:t>301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569464" y="1548994"/>
            <a:ext cx="1847088" cy="37527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5BC"/>
                </a:solidFill>
              </a:rPr>
              <a:t>Variables including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A5BC"/>
                </a:solidFill>
              </a:rPr>
              <a:t>behavioral &amp; clinical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81144" y="1005840"/>
            <a:ext cx="1993392" cy="987552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26864" y="1115568"/>
            <a:ext cx="1901952" cy="51352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39C12"/>
                </a:solidFill>
              </a:rPr>
              <a:t>XPT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654296" y="1548994"/>
            <a:ext cx="1847088" cy="37527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5BC"/>
                </a:solidFill>
              </a:rPr>
              <a:t>SAS Transport format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A5BC"/>
                </a:solidFill>
              </a:rPr>
              <a:t>Proper column names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65976" y="1005840"/>
            <a:ext cx="1993392" cy="987552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11696" y="1115568"/>
            <a:ext cx="1901952" cy="51352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</a:rPr>
              <a:t>Public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739128" y="1548994"/>
            <a:ext cx="1847088" cy="37527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5BC"/>
                </a:solidFill>
              </a:rPr>
              <a:t>Free CDC download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A5BC"/>
                </a:solidFill>
              </a:rPr>
              <a:t>Fully documented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2176272"/>
            <a:ext cx="4114800" cy="265176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2240280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</a:rPr>
              <a:t>Why BRFSS Works for Kenya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2651760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</a:rPr>
              <a:t>✓ Same risk factors  </a:t>
            </a:r>
            <a:r>
              <a:rPr lang="en-US" sz="1000" dirty="0">
                <a:solidFill>
                  <a:srgbClr val="8BA5BC"/>
                </a:solidFill>
              </a:rPr>
              <a:t>Smoking, BMI, inactivity, diabetes — identical to Kenya's CVD drivers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054096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</a:rPr>
              <a:t>✓ Self-report method  </a:t>
            </a:r>
            <a:r>
              <a:rPr lang="en-US" sz="1000" dirty="0">
                <a:solidFill>
                  <a:srgbClr val="8BA5BC"/>
                </a:solidFill>
              </a:rPr>
              <a:t>Matches what CHVs can collect at household level in Kenya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456432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</a:rPr>
              <a:t>✓ Large sample  </a:t>
            </a:r>
            <a:r>
              <a:rPr lang="en-US" sz="1000" dirty="0">
                <a:solidFill>
                  <a:srgbClr val="8BA5BC"/>
                </a:solidFill>
              </a:rPr>
              <a:t>Sufficient for ML with class imbalance (~5.8% CVD positive)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858768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</a:rPr>
              <a:t>✓ Clear outcome  </a:t>
            </a:r>
            <a:r>
              <a:rPr lang="en-US" sz="1000" dirty="0">
                <a:solidFill>
                  <a:srgbClr val="8BA5BC"/>
                </a:solidFill>
              </a:rPr>
              <a:t>CVDINFR4: 'Ever told you had a heart attack?' (direct match)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261104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</a:rPr>
              <a:t>✓ Open pipeline  </a:t>
            </a:r>
            <a:r>
              <a:rPr lang="en-US" sz="1000" dirty="0">
                <a:solidFill>
                  <a:srgbClr val="8BA5BC"/>
                </a:solidFill>
              </a:rPr>
              <a:t>Entire methodology reusable with Kenya STEPwise data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2176272"/>
            <a:ext cx="3886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⚠  Iportant Disclaimer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20116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</a:rPr>
              <a:t>03  DATA PREPARATION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201168"/>
            <a:ext cx="64008" cy="6949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29057"/>
            <a:ext cx="82296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Engineering &amp; Data Cleaning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694944"/>
            <a:ext cx="777240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raw BRFSS survey data is transformed into model-ready features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846320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6B7C"/>
                </a:solidFill>
              </a:rPr>
              <a:t>CVD Risk Prediction — Kenya NCD Prevention | CDC BRFSS 2024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0" y="4846320"/>
            <a:ext cx="685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6B7C"/>
                </a:solidFill>
              </a:rPr>
              <a:t>6 / 16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1024128"/>
            <a:ext cx="8321040" cy="749808"/>
          </a:xfrm>
          <a:prstGeom prst="rect">
            <a:avLst/>
          </a:prstGeom>
          <a:solidFill>
            <a:srgbClr val="1A1F35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024128"/>
            <a:ext cx="91440" cy="7498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024128"/>
            <a:ext cx="169164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Target Variable: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23160" y="1042416"/>
            <a:ext cx="61264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</a:rPr>
              <a:t>has_heart_disease = 1  →  CVDINFR4 == 1  ("Ever told you had a heart attack?")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9C12"/>
                </a:solidFill>
              </a:rPr>
              <a:t>22,672 positive (5.83%)   |   431,067 negative (94.17%)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1783080"/>
            <a:ext cx="2029968" cy="246888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1783080"/>
            <a:ext cx="2029968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783080"/>
            <a:ext cx="20299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</a:rPr>
              <a:t>Demographic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103120"/>
            <a:ext cx="1874520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8BA5BC"/>
                </a:solidFill>
              </a:rPr>
              <a:t>_AGEG5YR — Age group (18–80+)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8BA5BC"/>
                </a:solidFill>
              </a:rPr>
              <a:t>_SEX — Biological sex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87752" y="1783080"/>
            <a:ext cx="2029968" cy="246888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87752" y="1783080"/>
            <a:ext cx="2029968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87752" y="1783080"/>
            <a:ext cx="20299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</a:rPr>
              <a:t>Behavioral / Lifestyle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79192" y="2103120"/>
            <a:ext cx="1874520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8BA5BC"/>
                </a:solidFill>
              </a:rPr>
              <a:t>SMOKE100 — Ever smoked 100+ cigs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8BA5BC"/>
                </a:solidFill>
              </a:rPr>
              <a:t>SMOKDAY2 — Current smoking freq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8BA5BC"/>
                </a:solidFill>
              </a:rPr>
              <a:t>EXERANY2 — Any exercise past 30d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8BA5BC"/>
                </a:solidFill>
              </a:rPr>
              <a:t>ALCDAY4 — Alcohol days per week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8BA5BC"/>
                </a:solidFill>
              </a:rPr>
              <a:t>_TOTINDA — Physical activity level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64024" y="1783080"/>
            <a:ext cx="2029968" cy="246888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64024" y="1783080"/>
            <a:ext cx="2029968" cy="2926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64024" y="1783080"/>
            <a:ext cx="20299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</a:rPr>
              <a:t>Clinical Conditions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55464" y="2103120"/>
            <a:ext cx="1874520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8BA5BC"/>
                </a:solidFill>
              </a:rPr>
              <a:t>DIABETE4 — Diabetes diagnosis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8BA5BC"/>
                </a:solidFill>
              </a:rPr>
              <a:t>GENHLTH — Self-rated health 1–5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8BA5BC"/>
                </a:solidFill>
              </a:rPr>
              <a:t>PHYSHLTH — Days physical health bad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8BA5BC"/>
                </a:solidFill>
              </a:rPr>
              <a:t>MENTHLTH — Days mental health bad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40296" y="1783080"/>
            <a:ext cx="2029968" cy="246888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0296" y="1783080"/>
            <a:ext cx="2029968" cy="2926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0296" y="1783080"/>
            <a:ext cx="20299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</a:rPr>
              <a:t>Body &amp; Access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31736" y="2103120"/>
            <a:ext cx="1874520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8BA5BC"/>
                </a:solidFill>
              </a:rPr>
              <a:t>_BMI5 — Calculated BMI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8BA5BC"/>
                </a:solidFill>
              </a:rPr>
              <a:t>WEIGHT2 — Body weight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8BA5BC"/>
                </a:solidFill>
              </a:rPr>
              <a:t>HEIGHT3 — Body height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8BA5BC"/>
                </a:solidFill>
              </a:rPr>
              <a:t>CHECKUP1 — Last routine checkup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8BA5BC"/>
                </a:solidFill>
              </a:rPr>
              <a:t>MEDCOST1 — Couldn't afford MD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1480" y="4370832"/>
            <a:ext cx="8321040" cy="640080"/>
          </a:xfrm>
          <a:prstGeom prst="rect">
            <a:avLst/>
          </a:prstGeom>
          <a:solidFill>
            <a:srgbClr val="122B4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4453128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453128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41832" y="4462272"/>
            <a:ext cx="1234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5BC"/>
                </a:solidFill>
              </a:rPr>
              <a:t>Mode imputation for missing values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14400" y="4604004"/>
            <a:ext cx="256032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0" y="4453128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0" y="4453128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633472" y="4462272"/>
            <a:ext cx="1234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5BC"/>
                </a:solidFill>
              </a:rPr>
              <a:t>Remove rows &gt;50% missing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606040" y="4604004"/>
            <a:ext cx="256032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77640" y="4453128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77640" y="4453128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325112" y="4462272"/>
            <a:ext cx="1234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5BC"/>
                </a:solidFill>
              </a:rPr>
              <a:t>Stratified 80/20 train-test split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297680" y="4604004"/>
            <a:ext cx="256032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69280" y="4453128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4453128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016752" y="4462272"/>
            <a:ext cx="1234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5BC"/>
                </a:solidFill>
              </a:rPr>
              <a:t>StandardScaler for LR features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989320" y="4604004"/>
            <a:ext cx="256032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60920" y="4453128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60920" y="4453128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708392" y="4462272"/>
            <a:ext cx="1234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2C39A"/>
                </a:solidFill>
              </a:rPr>
              <a:t>SMOTE class balancing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20116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</a:rPr>
              <a:t>04  EXPLORATORY ANALYSIS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201168"/>
            <a:ext cx="64008" cy="6949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47142"/>
            <a:ext cx="82296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Patterns: Risk Factors &amp; Heart Disease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694944"/>
            <a:ext cx="777240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data reveals before modeling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4846320"/>
            <a:ext cx="685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6B7C"/>
                </a:solidFill>
              </a:rPr>
              <a:t>7 / 16</a:t>
            </a:r>
            <a:endParaRPr lang="en-US" sz="85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11480" y="1005840"/>
          <a:ext cx="5029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623560" y="1005840"/>
            <a:ext cx="3063240" cy="77724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23560" y="1005840"/>
            <a:ext cx="73152" cy="7772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42432" y="1051560"/>
            <a:ext cx="1005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4C3C"/>
                </a:solidFill>
              </a:rPr>
              <a:t>r = 0.27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720840" y="1051560"/>
            <a:ext cx="1874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 ↔ CVD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42432" y="1435608"/>
            <a:ext cx="2880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Strongest single predictor. Risk grows 40x from 18-24 to 80+.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623560" y="1920240"/>
            <a:ext cx="3063240" cy="77724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623560" y="1920240"/>
            <a:ext cx="73152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42432" y="1965960"/>
            <a:ext cx="1005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39C12"/>
                </a:solidFill>
              </a:rPr>
              <a:t>r = 0.16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720840" y="1965960"/>
            <a:ext cx="1874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GEN_HEALTH ↔ CVD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742432" y="2350008"/>
            <a:ext cx="2880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Self-rated poor health predicts disease independently.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623560" y="2834640"/>
            <a:ext cx="3063240" cy="77724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623560" y="2834640"/>
            <a:ext cx="73152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42432" y="2880360"/>
            <a:ext cx="1005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</a:rPr>
              <a:t>2.1×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720840" y="2880360"/>
            <a:ext cx="1874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Diabetics vs Non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742432" y="3264408"/>
            <a:ext cx="2880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Diabetics have 2.1× higher CVD rate — critical comorbidity.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623560" y="3749040"/>
            <a:ext cx="3063240" cy="77724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623560" y="3749040"/>
            <a:ext cx="73152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42432" y="3794760"/>
            <a:ext cx="1005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</a:rPr>
              <a:t>3.9×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6720840" y="3794760"/>
            <a:ext cx="1874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BMI Obese vs Normal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742432" y="4178808"/>
            <a:ext cx="2880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Obesity category dramatically elevates CVD probability.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730752"/>
            <a:ext cx="5029200" cy="123444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11480" y="3730752"/>
            <a:ext cx="91440" cy="12344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3767328"/>
            <a:ext cx="4663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</a:rPr>
              <a:t>Class Imbalance Challenge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94360" y="4096512"/>
            <a:ext cx="4663440" cy="8046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</a:rPr>
              <a:t>Only 5.83% of respondents reported a heart attack (22,672 of 457,670). Standard classifiers trained naively will predict 'No CVD' for everyone, achieving 94% accuracy with zero clinical utility. We address this with SMOTE oversampling + class_weight='balanced'.</a:t>
            </a:r>
            <a:endParaRPr lang="en-US" sz="950" dirty="0"/>
          </a:p>
        </p:txBody>
      </p:sp>
      <p:graphicFrame>
        <p:nvGraphicFramePr>
          <p:cNvPr id="35" name="Chart 1"/>
          <p:cNvGraphicFramePr/>
          <p:nvPr/>
        </p:nvGraphicFramePr>
        <p:xfrm>
          <a:off x="5623560" y="3730752"/>
          <a:ext cx="306324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20116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</a:rPr>
              <a:t>05  MACHINE LEARNING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201168"/>
            <a:ext cx="64008" cy="6949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65557"/>
            <a:ext cx="82296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Iterative Model Building Strategy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694944"/>
            <a:ext cx="777240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baseline to best model — each iteration justified by prior results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4846320"/>
            <a:ext cx="685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6B7C"/>
                </a:solidFill>
              </a:rPr>
              <a:t>8 / 16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87552" y="1920240"/>
            <a:ext cx="0" cy="9144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143000"/>
            <a:ext cx="502920" cy="502920"/>
          </a:xfrm>
          <a:prstGeom prst="ellipse">
            <a:avLst/>
          </a:prstGeom>
          <a:solidFill>
            <a:srgbClr val="8BA5BC">
              <a:alpha val="60000"/>
            </a:srgbClr>
          </a:solidFill>
          <a:ln w="12700">
            <a:solidFill>
              <a:srgbClr val="8BA5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1430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</a:rPr>
              <a:t>01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51560" y="1051560"/>
            <a:ext cx="7635240" cy="804672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88720" y="1115568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Dummy Classifier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1490472"/>
            <a:ext cx="2377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</a:rPr>
              <a:t>Baseline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11880" y="1143000"/>
            <a:ext cx="25603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</a:rPr>
              <a:t>Always predict majority class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</a:rPr>
              <a:t>(No Disease)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143000"/>
            <a:ext cx="1051560" cy="594360"/>
          </a:xfrm>
          <a:prstGeom prst="rect">
            <a:avLst/>
          </a:prstGeom>
          <a:solidFill>
            <a:srgbClr val="122B4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1143000"/>
            <a:ext cx="1051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A5BC"/>
                </a:solidFill>
              </a:rPr>
              <a:t>ROC-AUC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217920" y="1344168"/>
            <a:ext cx="10515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0.500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96912" y="1161288"/>
            <a:ext cx="13258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5BC"/>
                </a:solidFill>
              </a:rPr>
              <a:t>Why: Establishes random-chance floor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87552" y="2852928"/>
            <a:ext cx="0" cy="9144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2075688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075688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</a:rPr>
              <a:t>02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51560" y="1984248"/>
            <a:ext cx="7635240" cy="804672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188720" y="2048256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Logistic Regression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88720" y="2423160"/>
            <a:ext cx="2377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896"/>
                </a:solidFill>
              </a:rPr>
              <a:t>Linear Model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11880" y="2075688"/>
            <a:ext cx="25603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</a:rPr>
              <a:t>SMOTE + StandardScaler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</a:rPr>
              <a:t>Balanced class weight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2075688"/>
            <a:ext cx="1051560" cy="594360"/>
          </a:xfrm>
          <a:prstGeom prst="rect">
            <a:avLst/>
          </a:prstGeom>
          <a:solidFill>
            <a:srgbClr val="122B4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17920" y="2075688"/>
            <a:ext cx="1051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A5BC"/>
                </a:solidFill>
              </a:rPr>
              <a:t>ROC-AUC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217920" y="2276856"/>
            <a:ext cx="10515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0.8066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296912" y="2093976"/>
            <a:ext cx="13258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5BC"/>
                </a:solidFill>
              </a:rPr>
              <a:t>Why: Linear baseline with interpretable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BA5BC"/>
                </a:solidFill>
              </a:rPr>
              <a:t>coefficients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87552" y="3785616"/>
            <a:ext cx="0" cy="9144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3008376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008376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</a:rPr>
              <a:t>03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51560" y="2916936"/>
            <a:ext cx="7635240" cy="804672"/>
          </a:xfrm>
          <a:prstGeom prst="rect">
            <a:avLst/>
          </a:prstGeom>
          <a:solidFill>
            <a:srgbClr val="0E2D3A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51560" y="2916936"/>
            <a:ext cx="7635240" cy="804672"/>
          </a:xfrm>
          <a:prstGeom prst="rect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0" y="2980944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Random Forest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88720" y="3355848"/>
            <a:ext cx="2377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</a:rPr>
              <a:t>Ensemble Trees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11880" y="3008376"/>
            <a:ext cx="25603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</a:rPr>
              <a:t>100 trees, max_depth=15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</a:rPr>
              <a:t>class_weight='balanced'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3008376"/>
            <a:ext cx="1051560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217920" y="3008376"/>
            <a:ext cx="1051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2137"/>
                </a:solidFill>
              </a:rPr>
              <a:t>ROC-AUC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217920" y="3209544"/>
            <a:ext cx="10515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2137"/>
                </a:solidFill>
              </a:rPr>
              <a:t>0.8478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296912" y="3026664"/>
            <a:ext cx="13258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5BC"/>
                </a:solidFill>
              </a:rPr>
              <a:t>Why: Non-linear; captures interactions;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BA5BC"/>
                </a:solidFill>
              </a:rPr>
              <a:t>more robust than single tree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11480" y="3941064"/>
            <a:ext cx="502920" cy="5029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3941064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</a:rPr>
              <a:t>04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051560" y="3849624"/>
            <a:ext cx="7635240" cy="804672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188720" y="3913632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Gradient Boosting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188720" y="4288536"/>
            <a:ext cx="2377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39C12"/>
                </a:solidFill>
              </a:rPr>
              <a:t>Boosted Ensemble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611880" y="3941064"/>
            <a:ext cx="25603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</a:rPr>
              <a:t>100 trees, depth=5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</a:rPr>
              <a:t>learning_rate=0.1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17920" y="3941064"/>
            <a:ext cx="1051560" cy="594360"/>
          </a:xfrm>
          <a:prstGeom prst="rect">
            <a:avLst/>
          </a:prstGeom>
          <a:solidFill>
            <a:srgbClr val="122B4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217920" y="3941064"/>
            <a:ext cx="1051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A5BC"/>
                </a:solidFill>
              </a:rPr>
              <a:t>ROC-AUC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217920" y="4142232"/>
            <a:ext cx="10515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0.8061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7296912" y="3959352"/>
            <a:ext cx="13258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5BC"/>
                </a:solidFill>
              </a:rPr>
              <a:t>Why: Sequential correction of errors;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BA5BC"/>
                </a:solidFill>
              </a:rPr>
              <a:t>compared vs RF to confirm winner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51560" y="4773168"/>
            <a:ext cx="763524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88720" y="4773168"/>
            <a:ext cx="7406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</a:rPr>
              <a:t>★  Selected Final Model: Random Forest (highest ROC-AUC = 0.8478)  →  Tuned with GridSearchCV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20116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</a:rPr>
              <a:t>06  RESULTS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201168"/>
            <a:ext cx="64008" cy="6949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73812"/>
            <a:ext cx="82296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Performance Results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694944"/>
            <a:ext cx="777240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Tuned Random Forest evaluated on holdout test set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4846320"/>
            <a:ext cx="685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6B7C"/>
                </a:solidFill>
              </a:rPr>
              <a:t>9 / 16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987552"/>
            <a:ext cx="2029968" cy="987552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097280"/>
            <a:ext cx="1938528" cy="51352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</a:rPr>
              <a:t>0.8478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4632" y="1530706"/>
            <a:ext cx="1883664" cy="37527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5BC"/>
                </a:solidFill>
              </a:rPr>
              <a:t>ROC-AUC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A5BC"/>
                </a:solidFill>
              </a:rPr>
              <a:t>Best model (tuned RF)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06040" y="987552"/>
            <a:ext cx="2029968" cy="987552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51760" y="1097280"/>
            <a:ext cx="1938528" cy="51352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A896"/>
                </a:solidFill>
              </a:rPr>
              <a:t>79.80%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679192" y="1530706"/>
            <a:ext cx="1883664" cy="37527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5BC"/>
                </a:solidFill>
              </a:rPr>
              <a:t>Accuracy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A5BC"/>
                </a:solidFill>
              </a:rPr>
              <a:t>Overall correct predictions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987552"/>
            <a:ext cx="2029968" cy="987552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097280"/>
            <a:ext cx="1938528" cy="51352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39C12"/>
                </a:solidFill>
              </a:rPr>
              <a:t>0.2570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873752" y="1530706"/>
            <a:ext cx="1883664" cy="37527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5BC"/>
                </a:solidFill>
              </a:rPr>
              <a:t>F1-Score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A5BC"/>
                </a:solidFill>
              </a:rPr>
              <a:t>Harmonic mean P/R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95160" y="987552"/>
            <a:ext cx="2029968" cy="987552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0" y="1097280"/>
            <a:ext cx="1938528" cy="513527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74C3C"/>
                </a:solidFill>
              </a:rPr>
              <a:t>~60%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7068312" y="1530706"/>
            <a:ext cx="1883664" cy="37527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A5BC"/>
                </a:solidFill>
              </a:rPr>
              <a:t>Recall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A5BC"/>
                </a:solidFill>
              </a:rPr>
              <a:t>CVD cases correctly caught</a:t>
            </a:r>
            <a:endParaRPr lang="en-US" sz="105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411480" y="2121408"/>
          <a:ext cx="50292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5623560" y="2121408"/>
            <a:ext cx="3063240" cy="1353312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715000" y="2167128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</a:rPr>
              <a:t>Confusion Matrix (Tuned RF, Test Set)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5623560" y="2487168"/>
          <a:ext cx="3063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51560"/>
                <a:gridCol w="1005840"/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BA5BC"/>
                          </a:solidFill>
                        </a:rPr>
                        <a:t>Pred: No CVD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BA5BC"/>
                          </a:solidFill>
                        </a:rPr>
                        <a:t>Pred: CVD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A5BC"/>
                          </a:solidFill>
                        </a:rPr>
                        <a:t>True: No CVD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</a:rPr>
                        <a:t>70,235 (TN)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39C12"/>
                          </a:solidFill>
                        </a:rPr>
                        <a:t>16,034 (FP)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0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A5BC"/>
                          </a:solidFill>
                        </a:rPr>
                        <a:t>True: CVD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</a:rPr>
                        <a:t>2,099 (FN)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</a:rPr>
                        <a:t>3,166 (TP)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1A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5623560" y="3566160"/>
            <a:ext cx="3063240" cy="141732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5715000" y="3611880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</a:rPr>
              <a:t>Clinical Performance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5715000" y="3950208"/>
            <a:ext cx="19202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</a:rPr>
              <a:t>Sensitivity (Recall):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7635240" y="3950208"/>
            <a:ext cx="98755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C39A"/>
                </a:solidFill>
              </a:rPr>
              <a:t>~60%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715000" y="4206240"/>
            <a:ext cx="19202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</a:rPr>
              <a:t>Specificity: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7635240" y="4206240"/>
            <a:ext cx="98755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A896"/>
                </a:solidFill>
              </a:rPr>
              <a:t>~81%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5715000" y="4462272"/>
            <a:ext cx="19202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</a:rPr>
              <a:t>Precision (PPV):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7635240" y="4462272"/>
            <a:ext cx="98755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39C12"/>
                </a:solidFill>
              </a:rPr>
              <a:t>~16%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5715000" y="4718304"/>
            <a:ext cx="19202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</a:rPr>
              <a:t>Recommendation: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7635240" y="4718304"/>
            <a:ext cx="98755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5BC"/>
                </a:solidFill>
              </a:rPr>
              <a:t>Use low threshold for screening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20116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</a:rPr>
              <a:t>06  RISK DRIVERS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201168"/>
            <a:ext cx="64008" cy="6949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1698" y="292227"/>
            <a:ext cx="82296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Risk Factors for Cardiovascular Disease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694944"/>
            <a:ext cx="777240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 feature importance — what drives predictions most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4846320"/>
            <a:ext cx="685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6B7C"/>
                </a:solidFill>
              </a:rPr>
              <a:t>10 / 16</a:t>
            </a:r>
            <a:endParaRPr lang="en-US" sz="85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368300" y="969645"/>
          <a:ext cx="457200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166360" y="1005840"/>
            <a:ext cx="3566160" cy="86868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66360" y="1005840"/>
            <a:ext cx="502920" cy="8686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66360" y="1005840"/>
            <a:ext cx="502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2137"/>
                </a:solidFill>
              </a:rPr>
              <a:t>1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742432" y="1069848"/>
            <a:ext cx="28986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Age Group (_AGEG5YR)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42432" y="1335024"/>
            <a:ext cx="28986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</a:rPr>
              <a:t>Importance: 27.8%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742432" y="1527048"/>
            <a:ext cx="289864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A5BC"/>
                </a:solidFill>
              </a:rPr>
              <a:t>Not modifiable — use for risk stratification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166360" y="2011680"/>
            <a:ext cx="3566160" cy="86868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166360" y="2011680"/>
            <a:ext cx="50292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66360" y="2011680"/>
            <a:ext cx="502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2137"/>
                </a:solidFill>
              </a:rPr>
              <a:t>2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742432" y="2075688"/>
            <a:ext cx="28986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General Health (GENHLTH)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742432" y="2340864"/>
            <a:ext cx="28986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39C12"/>
                </a:solidFill>
              </a:rPr>
              <a:t>Importance: 16.2%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742432" y="2532888"/>
            <a:ext cx="289864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A5BC"/>
                </a:solidFill>
              </a:rPr>
              <a:t>Indirect — reflects multiple underlying conditions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166360" y="3017520"/>
            <a:ext cx="3566160" cy="86868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166360" y="3017520"/>
            <a:ext cx="502920" cy="868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66360" y="3017520"/>
            <a:ext cx="502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2137"/>
                </a:solidFill>
              </a:rPr>
              <a:t>3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5742432" y="3081528"/>
            <a:ext cx="28986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BMI (_BMI5)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742432" y="3346704"/>
            <a:ext cx="28986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</a:rPr>
              <a:t>Importance: 11.8%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742432" y="3538728"/>
            <a:ext cx="289864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A5BC"/>
                </a:solidFill>
              </a:rPr>
              <a:t>Highly modifiable — diet, exercise, weight management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166360" y="4023360"/>
            <a:ext cx="3566160" cy="86868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166360" y="4023360"/>
            <a:ext cx="502920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66360" y="4023360"/>
            <a:ext cx="502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2137"/>
                </a:solidFill>
              </a:rPr>
              <a:t>4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5742432" y="4087368"/>
            <a:ext cx="28986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Physical Health Days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742432" y="4352544"/>
            <a:ext cx="289864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Importance: 9.7%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742432" y="4544568"/>
            <a:ext cx="289864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A5BC"/>
                </a:solidFill>
              </a:rPr>
              <a:t>Partially modifiable — improved by managing conditions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166360" y="5029200"/>
            <a:ext cx="3566160" cy="0"/>
          </a:xfrm>
          <a:prstGeom prst="rect">
            <a:avLst/>
          </a:prstGeom>
          <a:solidFill>
            <a:srgbClr val="1A1E2A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5285232" y="5047488"/>
            <a:ext cx="3346704" cy="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</a:rPr>
              <a:t>💡 Age + General Health alone explain &gt;44% of model predictions. These two questions are the core of any Kenya CHV screening tool.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20116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</a:rPr>
              <a:t>06  TUNING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201168"/>
            <a:ext cx="64008" cy="6949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513" y="265557"/>
            <a:ext cx="82296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Hyperparameter Tuning — Optimizing the Best Model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694944"/>
            <a:ext cx="777240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GridSearchCV with 5-fold cross-validation on Random Forest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4846320"/>
            <a:ext cx="685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6B7C"/>
                </a:solidFill>
              </a:rPr>
              <a:t>11 / 16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1024128"/>
            <a:ext cx="5029200" cy="201168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078992"/>
            <a:ext cx="4754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GridSearchCV Configuration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463040"/>
            <a:ext cx="475488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</a:rPr>
              <a:t>n_estimators: [50, 100, 200]   →   Number of decision trees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</a:rPr>
              <a:t>max_depth: [10, 15, 20]   →   Maximum tree depth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</a:rPr>
              <a:t>min_samples_split: [5, 10]   →   Min samples to split node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</a:rPr>
              <a:t>class_weight: ['balanced']   →   Handle class imbalance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</a:rPr>
              <a:t>scoring: roc_auc   →   Optimize for AUC (not accuracy)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</a:rPr>
              <a:t>cv: 5   →   5-fold stratified cross-validation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23560" y="1024128"/>
            <a:ext cx="3063240" cy="201168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15000" y="1078992"/>
            <a:ext cx="2880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Best Parameters Found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15000" y="1481328"/>
            <a:ext cx="17373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</a:rPr>
              <a:t>n_estimators: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52360" y="1481328"/>
            <a:ext cx="111556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</a:rPr>
              <a:t>200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715000" y="1728216"/>
            <a:ext cx="17373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</a:rPr>
              <a:t>max_depth: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52360" y="1728216"/>
            <a:ext cx="111556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</a:rPr>
              <a:t>15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15000" y="1975104"/>
            <a:ext cx="17373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</a:rPr>
              <a:t>min_samples_split: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452360" y="1975104"/>
            <a:ext cx="111556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</a:rPr>
              <a:t>10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715000" y="2221992"/>
            <a:ext cx="17373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</a:rPr>
              <a:t>class_weight: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452360" y="2221992"/>
            <a:ext cx="111556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</a:rPr>
              <a:t>'balanced'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15000" y="2468880"/>
            <a:ext cx="17373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</a:rPr>
              <a:t>Best CV AUC: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52360" y="2468880"/>
            <a:ext cx="111556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2C39A"/>
                </a:solidFill>
              </a:rPr>
              <a:t>0.8478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715000" y="2715768"/>
            <a:ext cx="17373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</a:rPr>
              <a:t>Test AUC: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452360" y="2715768"/>
            <a:ext cx="111556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2C39A"/>
                </a:solidFill>
              </a:rPr>
              <a:t>0.8478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3154680"/>
            <a:ext cx="8321040" cy="178308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200400"/>
            <a:ext cx="7955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Choosing the Right Decision Threshold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3611880"/>
            <a:ext cx="2514600" cy="1207008"/>
          </a:xfrm>
          <a:prstGeom prst="rect">
            <a:avLst/>
          </a:prstGeom>
          <a:solidFill>
            <a:srgbClr val="0E2D2A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3611880"/>
            <a:ext cx="251460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611880"/>
            <a:ext cx="2514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</a:rPr>
              <a:t>t = 0.10–0.15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" y="388620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</a:rPr>
              <a:t>Screening mode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</a:rPr>
              <a:t>(maximize recall)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" y="4206240"/>
            <a:ext cx="23774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Sensitivity: ~85%  |  Specificity: ~55%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1792" y="4425696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5BC"/>
                </a:solidFill>
              </a:rPr>
              <a:t>Best for: Population screening, CHV referrals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73552" y="3611880"/>
            <a:ext cx="2514600" cy="1207008"/>
          </a:xfrm>
          <a:prstGeom prst="rect">
            <a:avLst/>
          </a:prstGeom>
          <a:solidFill>
            <a:srgbClr val="122B4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73552" y="3611880"/>
            <a:ext cx="251460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3552" y="3611880"/>
            <a:ext cx="2514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</a:rPr>
              <a:t>t = 0.25–0.35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46704" y="388620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</a:rPr>
              <a:t>Balanced mode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</a:rPr>
              <a:t>(Youden's J)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46704" y="4206240"/>
            <a:ext cx="23774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Sensitivity: ~75%  |  Specificity: ~72%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346704" y="4425696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5BC"/>
                </a:solidFill>
              </a:rPr>
              <a:t>Best for: Clinic-based opportunistic screening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998464" y="3611880"/>
            <a:ext cx="2514600" cy="1207008"/>
          </a:xfrm>
          <a:prstGeom prst="rect">
            <a:avLst/>
          </a:prstGeom>
          <a:solidFill>
            <a:srgbClr val="122B4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998464" y="3611880"/>
            <a:ext cx="2514600" cy="2560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98464" y="3611880"/>
            <a:ext cx="2514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</a:rPr>
              <a:t>t = 0.40–0.50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71616" y="388620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39C12"/>
                </a:solidFill>
              </a:rPr>
              <a:t>Diagnostic mode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39C12"/>
                </a:solidFill>
              </a:rPr>
              <a:t>(maximize precision)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071616" y="4206240"/>
            <a:ext cx="23774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Sensitivity: ~60%  |  Specificity: ~84%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071616" y="4425696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5BC"/>
                </a:solidFill>
              </a:rPr>
              <a:t>Best for: Targeted clinical workup decisions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20116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</a:rPr>
              <a:t>06  CLINICAL METRICS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201168"/>
            <a:ext cx="64008" cy="6949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513" y="274447"/>
            <a:ext cx="82296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We Prioritize Recall Over Accuracy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694944"/>
            <a:ext cx="777240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cost of missed CVD cases is far greater than false alarms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846320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6B7C"/>
                </a:solidFill>
              </a:rPr>
              <a:t>CVD Risk Prediction — Kenya NCD Prevention | CDC BRFSS 2024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0" y="4846320"/>
            <a:ext cx="685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6B7C"/>
                </a:solidFill>
              </a:rPr>
              <a:t>12 / 16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1024128"/>
            <a:ext cx="8321040" cy="987552"/>
          </a:xfrm>
          <a:prstGeom prst="rect">
            <a:avLst/>
          </a:prstGeom>
          <a:solidFill>
            <a:srgbClr val="0E1F3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024128"/>
            <a:ext cx="91440" cy="9875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051560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Airport Security Analogy: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1389888"/>
            <a:ext cx="78638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5BC"/>
                </a:solidFill>
              </a:rPr>
              <a:t>A scanner that clears everyone is 99.9% accurate — but useless. We need high sensitivity even if it means more false alarms (additional testing).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148840"/>
            <a:ext cx="3931920" cy="278892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148840"/>
            <a:ext cx="393192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148840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</a:rPr>
              <a:t>False Negative (FN) — Missed CVD Case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578608"/>
            <a:ext cx="3657600" cy="22677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5BC"/>
                </a:solidFill>
              </a:rPr>
              <a:t>Patient leaves undetected — no intervention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5BC"/>
                </a:solidFill>
              </a:rPr>
              <a:t>CVD progresses silently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5BC"/>
                </a:solidFill>
              </a:rPr>
              <a:t>Higher risk of fatal heart attack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5BC"/>
                </a:solidFill>
              </a:rPr>
              <a:t>Emergency hospital admission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5BC"/>
                </a:solidFill>
              </a:rPr>
              <a:t>Preventable death or disability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</a:rPr>
              <a:t>COST: Lives, quality of life, economic burden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148840"/>
            <a:ext cx="3931920" cy="278892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148840"/>
            <a:ext cx="393192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148840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</a:rPr>
              <a:t>False Positive (FP) — Healthy Person Flagged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578608"/>
            <a:ext cx="3657600" cy="22677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5BC"/>
                </a:solidFill>
              </a:rPr>
              <a:t>Patient sent for follow-up screening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5BC"/>
                </a:solidFill>
              </a:rPr>
              <a:t>Blood pressure check, ECG, lipid panel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5BC"/>
                </a:solidFill>
              </a:rPr>
              <a:t>Mild anxiety, temporary inconvenience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5BC"/>
                </a:solidFill>
              </a:rPr>
              <a:t>Low cost additional tests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5BC"/>
                </a:solidFill>
              </a:rPr>
              <a:t>No long-term harm if healthy confirmed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</a:rPr>
              <a:t>COST: Minor — time, mild inconvenience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</a:rPr>
              <a:t>→  For CVD screening in Kenya, we choose a lower threshold to maximize recall. Some false positives are acceptable — missed heart attacks are not.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20116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</a:rPr>
              <a:t>07  RECOMMENDATIONS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201168"/>
            <a:ext cx="64008" cy="6949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01752"/>
            <a:ext cx="82296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Actionable Recommendations for Kenya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694944"/>
            <a:ext cx="777240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each stakeholder should do — and by when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4846320"/>
            <a:ext cx="685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6B7C"/>
                </a:solidFill>
              </a:rPr>
              <a:t>13 / 16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1005840"/>
            <a:ext cx="8321040" cy="777240"/>
          </a:xfrm>
          <a:prstGeom prst="rect">
            <a:avLst/>
          </a:prstGeom>
          <a:solidFill>
            <a:srgbClr val="0A2A1A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005840"/>
            <a:ext cx="9144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024128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The Kenya CHV 5-Question CVD Screen: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1298448"/>
            <a:ext cx="78638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(1) Age ≥50?   (2) General health Fair/Poor?   (3) Difficulty walking?   (4) Diabetes diagnosis?   (5) Currently smoke?  →  3+ YES = Refer to facility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1920240"/>
            <a:ext cx="3931920" cy="132588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1920240"/>
            <a:ext cx="502920" cy="1296035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920240"/>
            <a:ext cx="5029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endParaRPr lang="en-US" sz="2200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MoH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1975104"/>
            <a:ext cx="3246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Ministry of Health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249424"/>
            <a:ext cx="32461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A896"/>
                </a:solidFill>
              </a:rPr>
              <a:t>NCD Division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05840" y="2487168"/>
            <a:ext cx="32461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• Allocate NCD budget to: age-targeted screening (50+), General Health assessment tools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• Commission Kenya STEPwise survey with ML-ready CVD module design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• Develop national CVD screening guidelines using these risk factor rankings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1480" y="3383280"/>
            <a:ext cx="3931920" cy="132588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383280"/>
            <a:ext cx="502920" cy="1325880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383280"/>
            <a:ext cx="5029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endParaRPr lang="en-US" sz="2200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CHD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05840" y="3438144"/>
            <a:ext cx="3246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County Health Departments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712464"/>
            <a:ext cx="32461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</a:rPr>
              <a:t>All 47 Counties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05840" y="3950208"/>
            <a:ext cx="32461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• Deploy 5-question CVD screening tool in community health outreach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• Link high-risk referrals to clinic pathways (BP check, ECG, lipid panel)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• Use model output to identify highest-burden sub-counties for priority outreach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1920240"/>
            <a:ext cx="3931920" cy="132588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920240"/>
            <a:ext cx="502920" cy="1325880"/>
          </a:xfrm>
          <a:prstGeom prst="rect">
            <a:avLst/>
          </a:prstGeom>
          <a:solidFill>
            <a:srgbClr val="F39C12">
              <a:alpha val="80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920240"/>
            <a:ext cx="5029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endParaRPr lang="en-US" sz="2200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CHV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349240" y="1975104"/>
            <a:ext cx="3246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Community Health Volunteers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49240" y="2249424"/>
            <a:ext cx="32461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39C12"/>
                </a:solidFill>
              </a:rPr>
              <a:t>CHVs — Front Line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49240" y="2487168"/>
            <a:ext cx="32461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• Use: Age + General Health + BMI (estimate) + Smoking + Physical Activity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• 3+ risk factors → refer to nearest health facility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• Simple mobile app (offline-capable) for household-level scoring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3383280"/>
            <a:ext cx="3931920" cy="132588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383280"/>
            <a:ext cx="502920" cy="1325880"/>
          </a:xfrm>
          <a:prstGeom prst="rect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383280"/>
            <a:ext cx="5029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INS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349240" y="3438144"/>
            <a:ext cx="3246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NHIF / SHA / Insurers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49240" y="3712464"/>
            <a:ext cx="32461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74C3C"/>
                </a:solidFill>
              </a:rPr>
              <a:t>Health Financing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349240" y="3950208"/>
            <a:ext cx="324612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• Design wellness benefits targeting age 50+, diabetes, and BMI reduction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• Subsidize preventive services: BP monitoring, glucose testing, statins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• Use risk-stratified enrolment to prioritize proactive member outreach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20116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</a:rPr>
              <a:t>08  NEXT STEPS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201168"/>
            <a:ext cx="64008" cy="6949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265557"/>
            <a:ext cx="82296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 Roadmap: From Research to Kenya Operations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694944"/>
            <a:ext cx="777240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phased approach to validated, responsible deployment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4846320"/>
            <a:ext cx="685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6B7C"/>
                </a:solidFill>
              </a:rPr>
              <a:t>14 / 16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1024128"/>
            <a:ext cx="2011680" cy="397764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024128"/>
            <a:ext cx="201168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024128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</a:rPr>
              <a:t>Phase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1252728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2137"/>
                </a:solidFill>
              </a:rPr>
              <a:t>Now → 3 months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155448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 Pilot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1208" y="1938528"/>
            <a:ext cx="1792224" cy="0"/>
          </a:xfrm>
          <a:prstGeom prst="line">
            <a:avLst/>
          </a:prstGeom>
          <a:noFill/>
          <a:ln w="635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011680"/>
            <a:ext cx="18288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→ Partner with 2–3 county health departments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→ Pilot CHV screening tool in one sub-county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→ Compare model predictions vs. clinic diagnoses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→ Refine threshold for Kenyan false-positive tolerance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1208" y="3977640"/>
            <a:ext cx="1792224" cy="804672"/>
          </a:xfrm>
          <a:prstGeom prst="rect">
            <a:avLst/>
          </a:prstGeom>
          <a:solidFill>
            <a:srgbClr val="122B4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1208" y="3977640"/>
            <a:ext cx="1792224" cy="2286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977640"/>
            <a:ext cx="1792224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2137"/>
                </a:solidFill>
              </a:rPr>
              <a:t>STATUS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21208" y="4206240"/>
            <a:ext cx="1792224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Ready to start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87752" y="1024128"/>
            <a:ext cx="2011680" cy="397764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87752" y="1024128"/>
            <a:ext cx="201168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87752" y="1024128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</a:rPr>
              <a:t>Phase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87752" y="1252728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2137"/>
                </a:solidFill>
              </a:rPr>
              <a:t>3–6 months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679192" y="155448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Kenya Calibration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697480" y="1938528"/>
            <a:ext cx="1792224" cy="0"/>
          </a:xfrm>
          <a:prstGeom prst="line">
            <a:avLst/>
          </a:prstGeom>
          <a:noFill/>
          <a:ln w="635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79192" y="2011680"/>
            <a:ext cx="18288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→ Obtain Kenya STEPwise CVD survey data (or KDHS NCD module)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→ Retrain entire pipeline on Kenyan population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→ Validate if U.S. risk factor rankings hold in Kenya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→ Adjust feature set for locally available indicators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697480" y="3977640"/>
            <a:ext cx="1792224" cy="804672"/>
          </a:xfrm>
          <a:prstGeom prst="rect">
            <a:avLst/>
          </a:prstGeom>
          <a:solidFill>
            <a:srgbClr val="122B4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697480" y="3977640"/>
            <a:ext cx="1792224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480" y="3977640"/>
            <a:ext cx="1792224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2137"/>
                </a:solidFill>
              </a:rPr>
              <a:t>STATUS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697480" y="4206240"/>
            <a:ext cx="1792224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Data acquisition needed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64024" y="1024128"/>
            <a:ext cx="2011680" cy="397764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64024" y="1024128"/>
            <a:ext cx="2011680" cy="457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64024" y="1024128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</a:rPr>
              <a:t>Phase 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64024" y="1252728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2137"/>
                </a:solidFill>
              </a:rPr>
              <a:t>6–12 months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55464" y="155448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County Scale-Up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73752" y="1938528"/>
            <a:ext cx="1792224" cy="0"/>
          </a:xfrm>
          <a:prstGeom prst="line">
            <a:avLst/>
          </a:prstGeom>
          <a:noFill/>
          <a:ln w="6350">
            <a:solidFill>
              <a:srgbClr val="F39C1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5464" y="2011680"/>
            <a:ext cx="18288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→ Deploy web + mobile tool to county health systems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→ Integrate with HMIS (Health Management Information System)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→ Train CHVs across piloted counties (batch training program)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→ Establish referral pathways → clinic → diagnosis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73752" y="3977640"/>
            <a:ext cx="1792224" cy="804672"/>
          </a:xfrm>
          <a:prstGeom prst="rect">
            <a:avLst/>
          </a:prstGeom>
          <a:solidFill>
            <a:srgbClr val="122B4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73752" y="3977640"/>
            <a:ext cx="1792224" cy="2286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73752" y="3977640"/>
            <a:ext cx="1792224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2137"/>
                </a:solidFill>
              </a:rPr>
              <a:t>STATUS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873752" y="4206240"/>
            <a:ext cx="1792224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Technology ready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940296" y="1024128"/>
            <a:ext cx="2011680" cy="3977640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940296" y="1024128"/>
            <a:ext cx="201168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0296" y="1024128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</a:rPr>
              <a:t>Phase 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940296" y="1252728"/>
            <a:ext cx="2011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2137"/>
                </a:solidFill>
              </a:rPr>
              <a:t>12+ months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031736" y="155448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Monitor &amp; Improve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050024" y="1938528"/>
            <a:ext cx="1792224" cy="0"/>
          </a:xfrm>
          <a:prstGeom prst="line">
            <a:avLst/>
          </a:prstGeom>
          <a:noFill/>
          <a:ln w="6350">
            <a:solidFill>
              <a:srgbClr val="E74C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31736" y="2011680"/>
            <a:ext cx="18288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→ Track: # screened, # high-risk referred, # confirmed CVD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→ Audit model accuracy and false-positive rate quarterly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→ Continuously retrain as Kenyan outcome data accumulates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A5BC"/>
                </a:solidFill>
              </a:rPr>
              <a:t>→ Expand to additional NCD conditions (stroke, diabetes)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050024" y="3977640"/>
            <a:ext cx="1792224" cy="804672"/>
          </a:xfrm>
          <a:prstGeom prst="rect">
            <a:avLst/>
          </a:prstGeom>
          <a:solidFill>
            <a:srgbClr val="122B4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050024" y="3977640"/>
            <a:ext cx="1792224" cy="2286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50024" y="3977640"/>
            <a:ext cx="1792224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2137"/>
                </a:solidFill>
              </a:rPr>
              <a:t>STATUS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050024" y="4206240"/>
            <a:ext cx="1792224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Ongoing operational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441448" y="3017520"/>
            <a:ext cx="146304" cy="0"/>
          </a:xfrm>
          <a:prstGeom prst="line">
            <a:avLst/>
          </a:prstGeom>
          <a:noFill/>
          <a:ln w="12700">
            <a:solidFill>
              <a:srgbClr val="8BA5BC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4617720" y="3017520"/>
            <a:ext cx="146304" cy="0"/>
          </a:xfrm>
          <a:prstGeom prst="line">
            <a:avLst/>
          </a:prstGeom>
          <a:noFill/>
          <a:ln w="12700">
            <a:solidFill>
              <a:srgbClr val="8BA5BC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6793992" y="3017520"/>
            <a:ext cx="146304" cy="0"/>
          </a:xfrm>
          <a:prstGeom prst="line">
            <a:avLst/>
          </a:prstGeom>
          <a:noFill/>
          <a:ln w="12700">
            <a:solidFill>
              <a:srgbClr val="8BA5BC"/>
            </a:solidFill>
            <a:prstDash val="dash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"/>
            <a:ext cx="20116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137"/>
                </a:solidFill>
              </a:rPr>
              <a:t>CONCLUSION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201168"/>
            <a:ext cx="64008" cy="6949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65557"/>
            <a:ext cx="8229600" cy="566928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 &amp; Conclusion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694944"/>
            <a:ext cx="7772400" cy="219456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built, what we found, what comes next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932688"/>
            <a:ext cx="8321040" cy="0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4846320"/>
            <a:ext cx="685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A6B7C"/>
                </a:solidFill>
              </a:rPr>
              <a:t>15 / 16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1005840"/>
            <a:ext cx="832104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033272"/>
            <a:ext cx="1645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Project in Numbers: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40280" y="1078992"/>
            <a:ext cx="1024128" cy="502920"/>
          </a:xfrm>
          <a:prstGeom prst="rect">
            <a:avLst/>
          </a:prstGeom>
          <a:solidFill>
            <a:srgbClr val="0D2137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58568" y="1078992"/>
            <a:ext cx="98755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457,670 respondents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19272" y="1078992"/>
            <a:ext cx="1024128" cy="502920"/>
          </a:xfrm>
          <a:prstGeom prst="rect">
            <a:avLst/>
          </a:prstGeom>
          <a:solidFill>
            <a:srgbClr val="0D2137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078992"/>
            <a:ext cx="98755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16 features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398264" y="1078992"/>
            <a:ext cx="1024128" cy="502920"/>
          </a:xfrm>
          <a:prstGeom prst="rect">
            <a:avLst/>
          </a:prstGeom>
          <a:solidFill>
            <a:srgbClr val="0D2137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16552" y="1078992"/>
            <a:ext cx="98755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 ML models + tuning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77256" y="1078992"/>
            <a:ext cx="1024128" cy="502920"/>
          </a:xfrm>
          <a:prstGeom prst="rect">
            <a:avLst/>
          </a:prstGeom>
          <a:solidFill>
            <a:srgbClr val="0D2137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95544" y="1078992"/>
            <a:ext cx="98755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ROC-AUC 0.8478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556248" y="1078992"/>
            <a:ext cx="1024128" cy="502920"/>
          </a:xfrm>
          <a:prstGeom prst="rect">
            <a:avLst/>
          </a:prstGeom>
          <a:solidFill>
            <a:srgbClr val="0D2137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74536" y="1078992"/>
            <a:ext cx="98755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60% recall achieved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635240" y="1078992"/>
            <a:ext cx="1024128" cy="502920"/>
          </a:xfrm>
          <a:prstGeom prst="rect">
            <a:avLst/>
          </a:prstGeom>
          <a:solidFill>
            <a:srgbClr val="0D2137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53528" y="1078992"/>
            <a:ext cx="98755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5-question CHV tool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1480" y="1801368"/>
            <a:ext cx="5029200" cy="1572768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1847088"/>
            <a:ext cx="4754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What We Proved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2212848"/>
            <a:ext cx="47548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✓  Self-reported behavioral data CAN predict CVD with AUC &gt; 0.84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</a:rPr>
              <a:t>✓  Age, self-rated health &amp; BMI are the three most powerful predictors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</a:rPr>
              <a:t>✓  A 5-question tool based on these factors is feasible for CHV deployment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A5BC"/>
                </a:solidFill>
              </a:rPr>
              <a:t>✓  The ML pipeline is fully reusable for Kenya STEPwise data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23560" y="1801368"/>
            <a:ext cx="3063240" cy="1572768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715000" y="1847088"/>
            <a:ext cx="2880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</a:rPr>
              <a:t>Limitations to Acknowledge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15000" y="2212848"/>
            <a:ext cx="288036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</a:rPr>
              <a:t>⚠  U.S. data — needs Kenya recalibration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</a:rPr>
              <a:t>⚠  Self-reported outcomes (no lab confirmation)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</a:rPr>
              <a:t>⚠  Undiagnosed CVD cases not captured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5BC"/>
                </a:solidFill>
              </a:rPr>
              <a:t>⚠  No BP, lipids, ECG data available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3493008"/>
            <a:ext cx="8321040" cy="1325880"/>
          </a:xfrm>
          <a:prstGeom prst="rect">
            <a:avLst/>
          </a:prstGeom>
          <a:solidFill>
            <a:srgbClr val="091E2A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3493008"/>
            <a:ext cx="91440" cy="1325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538728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The Bigger Picture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3895344"/>
            <a:ext cx="77724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5BC"/>
                </a:solidFill>
              </a:rPr>
              <a:t>Cardiovascular disease kills ~30% of Kenyans today — mostly preventable with early detection. This project demonstrates that a simple, data-driven screening tool based entirely on self-reported questions can identify high-risk individuals without any laboratory equipment. Deployed at community health volunteer level across Kenya's 47 counties, this methodology has the potential to flag thousands of at-risk individuals for early intervention — saving lives and reducing the economic burden of CVD.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A896">
              <a:alpha val="60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91440"/>
            <a:ext cx="91440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CONTRIBUTORS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621792"/>
            <a:ext cx="9144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D4EAE7"/>
                </a:solidFill>
              </a:rPr>
              <a:t>Cardiovascular Disease Risk Prediction — Kenya NCD Prevention | Data Science Capstone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286000" y="1024128"/>
            <a:ext cx="4572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25880"/>
            <a:ext cx="2606040" cy="1481328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325880"/>
            <a:ext cx="2606040" cy="365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1490472"/>
            <a:ext cx="685800" cy="68580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1490472"/>
            <a:ext cx="685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JG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76072" y="224028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Jeffrey Gathigi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76072" y="251460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96"/>
                </a:solidFill>
              </a:rPr>
              <a:t>Lead Data Scientist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1325880"/>
            <a:ext cx="2606040" cy="1481328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325880"/>
            <a:ext cx="260604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1490472"/>
            <a:ext cx="685800" cy="68580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490472"/>
            <a:ext cx="685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JM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10712" y="224028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Jared Mongeri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10712" y="251460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ML Engineer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72200" y="1325880"/>
            <a:ext cx="2606040" cy="1481328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325880"/>
            <a:ext cx="260604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0" y="1490472"/>
            <a:ext cx="685800" cy="68580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1490472"/>
            <a:ext cx="685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MW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45352" y="224028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Monicah Wairimu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45352" y="251460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EAE7"/>
                </a:solidFill>
              </a:rPr>
              <a:t>Data Analyst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3017520"/>
            <a:ext cx="2606040" cy="1481328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017520"/>
            <a:ext cx="2606040" cy="365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63040" y="3182112"/>
            <a:ext cx="685800" cy="68580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3040" y="3182112"/>
            <a:ext cx="685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MK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76072" y="393192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Mercy Kangangi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76072" y="420624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96"/>
                </a:solidFill>
              </a:rPr>
              <a:t>Business Intelligence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37560" y="3017520"/>
            <a:ext cx="2606040" cy="1481328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37560" y="3017520"/>
            <a:ext cx="260604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97680" y="3182112"/>
            <a:ext cx="685800" cy="68580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0" y="3182112"/>
            <a:ext cx="685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KN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410712" y="393192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Kelvin Ngumo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410712" y="420624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Data Engineer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72200" y="3017520"/>
            <a:ext cx="2606040" cy="1481328"/>
          </a:xfrm>
          <a:prstGeom prst="rect">
            <a:avLst/>
          </a:prstGeom>
          <a:solidFill>
            <a:srgbClr val="132D44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72200" y="3017520"/>
            <a:ext cx="260604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32320" y="3182112"/>
            <a:ext cx="685800" cy="68580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0" y="3182112"/>
            <a:ext cx="685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JA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245352" y="393192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John Awallah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245352" y="420624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EAE7"/>
                </a:solidFill>
              </a:rPr>
              <a:t>Research &amp; Documentation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12590</Words>
  <Application>WPS Presentation</Application>
  <PresentationFormat>On-screen Show (16:9)</PresentationFormat>
  <Paragraphs>805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Cardiovascular Disease Risk Prediction — Kenya NCD Prevention</dc:title>
  <dc:creator>Jeffrey Gathigi, Jared Mongeri, Monicah Wairimu, Mercy Kangangi, Kelvin Ngumo, John Awallah</dc:creator>
  <dc:subject>PptxGenJS Presentation</dc:subject>
  <cp:lastModifiedBy>DELL</cp:lastModifiedBy>
  <cp:revision>3</cp:revision>
  <dcterms:created xsi:type="dcterms:W3CDTF">2026-04-16T12:49:00Z</dcterms:created>
  <dcterms:modified xsi:type="dcterms:W3CDTF">2026-04-28T19:12:11Z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B13CAC3DB3824E93BE9BC04A6E63F7B6_13</vt:lpwstr>
  </property>
  <property fmtid="{D5CDD505-2E9C-101B-9397-08002B2CF9AE}" pid="3" name="KSOProductBuildVer">
    <vt:lpwstr>1033-12.1.0.25862</vt:lpwstr>
  </property>
</Properties>
</file>